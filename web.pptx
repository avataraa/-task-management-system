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400"/>
              <a:t>This slide shows the structure of our project files.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400"/>
              <a:t>Each file has a specific role to keep the application organized and easier to maintain.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400"/>
              <a:t>The index.php file handles user login, while register.php allows new users to create accounts.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400"/>
              <a:t>Once logged in, dashboard.php displays the user’s tasks.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400"/>
              <a:t>We separated task actions like adding, editing, deleting, and completing tasks into their own files so the code is cleaner.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400"/>
              <a:t>We also use a central db.php file so all pages share the same database connection and session setup.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400"/>
              <a:t>The assets folder stores styling and front-end resources like CSS.</a:t>
            </a:r>
            <a:endParaRPr sz="1400"/>
          </a:p>
        </p:txBody>
      </p:sp>
      <p:sp>
        <p:nvSpPr>
          <p:cNvPr id="97" name="Google Shape;9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98d139c1c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98d139c1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</a:rPr>
              <a:t>Intro (point to the whole chart):</a:t>
            </a:r>
            <a:br>
              <a:rPr b="1" lang="en-CA">
                <a:solidFill>
                  <a:schemeClr val="dk1"/>
                </a:solidFill>
              </a:rPr>
            </a:br>
            <a:r>
              <a:rPr lang="en-CA">
                <a:solidFill>
                  <a:schemeClr val="dk1"/>
                </a:solidFill>
              </a:rPr>
              <a:t> “This diagram shows the backend flow — how the app handles a user from opening the site to updating the database and returning to the dashboard.”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</a:rPr>
              <a:t>Top — User opens website (point to top box):</a:t>
            </a:r>
            <a:br>
              <a:rPr b="1" lang="en-CA">
                <a:solidFill>
                  <a:schemeClr val="dk1"/>
                </a:solidFill>
              </a:rPr>
            </a:br>
            <a:r>
              <a:rPr lang="en-CA">
                <a:solidFill>
                  <a:schemeClr val="dk1"/>
                </a:solidFill>
              </a:rPr>
              <a:t> “First, the user opens the website in their browser.”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</a:rPr>
              <a:t>Login page (point to Login Page box):</a:t>
            </a:r>
            <a:br>
              <a:rPr b="1" lang="en-CA">
                <a:solidFill>
                  <a:schemeClr val="dk1"/>
                </a:solidFill>
              </a:rPr>
            </a:br>
            <a:r>
              <a:rPr lang="en-CA">
                <a:solidFill>
                  <a:schemeClr val="dk1"/>
                </a:solidFill>
              </a:rPr>
              <a:t> “The site shows the login page where the user types their email and password.”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</a:rPr>
              <a:t>User submits login (point to Submit box):</a:t>
            </a:r>
            <a:br>
              <a:rPr b="1" lang="en-CA">
                <a:solidFill>
                  <a:schemeClr val="dk1"/>
                </a:solidFill>
              </a:rPr>
            </a:br>
            <a:r>
              <a:rPr lang="en-CA">
                <a:solidFill>
                  <a:schemeClr val="dk1"/>
                </a:solidFill>
              </a:rPr>
              <a:t> “When the user submits the form, the server receives the credentials and checks the users table.”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</a:rPr>
              <a:t>Check users table (point to the check box):</a:t>
            </a:r>
            <a:br>
              <a:rPr b="1" lang="en-CA">
                <a:solidFill>
                  <a:schemeClr val="dk1"/>
                </a:solidFill>
              </a:rPr>
            </a:br>
            <a:r>
              <a:rPr lang="en-CA">
                <a:solidFill>
                  <a:schemeClr val="dk1"/>
                </a:solidFill>
              </a:rPr>
              <a:t> “The backend queries the database to find a matching email and compare the stored password hash.”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</a:rPr>
              <a:t>Decision — Success or Fail (point to the branch):</a:t>
            </a:r>
            <a:br>
              <a:rPr b="1" lang="en-CA">
                <a:solidFill>
                  <a:schemeClr val="dk1"/>
                </a:solidFill>
              </a:rPr>
            </a:br>
            <a:r>
              <a:rPr lang="en-CA">
                <a:solidFill>
                  <a:schemeClr val="dk1"/>
                </a:solidFill>
              </a:rPr>
              <a:t> “If the credentials are correct we follow the success path; if not, we go to the error path.”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</a:rPr>
              <a:t>Fail path — show error and stay on login (point to error box):</a:t>
            </a:r>
            <a:br>
              <a:rPr b="1" lang="en-CA">
                <a:solidFill>
                  <a:schemeClr val="dk1"/>
                </a:solidFill>
              </a:rPr>
            </a:br>
            <a:r>
              <a:rPr lang="en-CA">
                <a:solidFill>
                  <a:schemeClr val="dk1"/>
                </a:solidFill>
              </a:rPr>
              <a:t> “On failure the app returns an error message and asks the user to try logging in again.”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</a:rPr>
              <a:t>Success path — start session (point to start session box):</a:t>
            </a:r>
            <a:br>
              <a:rPr b="1" lang="en-CA">
                <a:solidFill>
                  <a:schemeClr val="dk1"/>
                </a:solidFill>
              </a:rPr>
            </a:br>
            <a:r>
              <a:rPr lang="en-CA">
                <a:solidFill>
                  <a:schemeClr val="dk1"/>
                </a:solidFill>
              </a:rPr>
              <a:t> “On success the server starts a session and saves the user id in </a:t>
            </a:r>
            <a:r>
              <a:rPr lang="en-CA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$_SESSION</a:t>
            </a:r>
            <a:r>
              <a:rPr lang="en-CA">
                <a:solidFill>
                  <a:schemeClr val="dk1"/>
                </a:solidFill>
              </a:rPr>
              <a:t> so we know who is logged in.”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</a:rPr>
              <a:t>Redirect to dashboard (point to redirect box):</a:t>
            </a:r>
            <a:br>
              <a:rPr b="1" lang="en-CA">
                <a:solidFill>
                  <a:schemeClr val="dk1"/>
                </a:solidFill>
              </a:rPr>
            </a:br>
            <a:r>
              <a:rPr lang="en-CA">
                <a:solidFill>
                  <a:schemeClr val="dk1"/>
                </a:solidFill>
              </a:rPr>
              <a:t> “Then the user is redirected to the dashboard page.”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</a:rPr>
              <a:t>Load tasks from database (point to load tasks box):</a:t>
            </a:r>
            <a:br>
              <a:rPr b="1" lang="en-CA">
                <a:solidFill>
                  <a:schemeClr val="dk1"/>
                </a:solidFill>
              </a:rPr>
            </a:br>
            <a:r>
              <a:rPr lang="en-CA">
                <a:solidFill>
                  <a:schemeClr val="dk1"/>
                </a:solidFill>
              </a:rPr>
              <a:t> “The dashboard loads tasks by querying the tasks table for rows where </a:t>
            </a:r>
            <a:r>
              <a:rPr lang="en-CA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user_id</a:t>
            </a:r>
            <a:r>
              <a:rPr lang="en-CA">
                <a:solidFill>
                  <a:schemeClr val="dk1"/>
                </a:solidFill>
              </a:rPr>
              <a:t> equals the logged-in user’s id.”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</a:rPr>
              <a:t>User action decision node (point to the diamond/user action):</a:t>
            </a:r>
            <a:br>
              <a:rPr b="1" lang="en-CA">
                <a:solidFill>
                  <a:schemeClr val="dk1"/>
                </a:solidFill>
              </a:rPr>
            </a:br>
            <a:r>
              <a:rPr lang="en-CA">
                <a:solidFill>
                  <a:schemeClr val="dk1"/>
                </a:solidFill>
              </a:rPr>
              <a:t> “From the dashboard, the user can perform an action — add, edit, delete, or complete a task. The flow branches to each action.”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</a:rPr>
              <a:t>Add Task (point to Add Task box):</a:t>
            </a:r>
            <a:br>
              <a:rPr b="1" lang="en-CA">
                <a:solidFill>
                  <a:schemeClr val="dk1"/>
                </a:solidFill>
              </a:rPr>
            </a:br>
            <a:r>
              <a:rPr lang="en-CA">
                <a:solidFill>
                  <a:schemeClr val="dk1"/>
                </a:solidFill>
              </a:rPr>
              <a:t> “If they add a task, the app takes the form data, validates it, and inserts a new row into the tasks table with the current user’s id.”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</a:rPr>
              <a:t>Edit Task (point to Edit Task box):</a:t>
            </a:r>
            <a:br>
              <a:rPr b="1" lang="en-CA">
                <a:solidFill>
                  <a:schemeClr val="dk1"/>
                </a:solidFill>
              </a:rPr>
            </a:br>
            <a:r>
              <a:rPr lang="en-CA">
                <a:solidFill>
                  <a:schemeClr val="dk1"/>
                </a:solidFill>
              </a:rPr>
              <a:t> “If they edit a task, the app first confirms the task belongs to this user, then updates the task row with the new values.”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</a:rPr>
              <a:t>Delete Task (point to Delete Task box):</a:t>
            </a:r>
            <a:br>
              <a:rPr b="1" lang="en-CA">
                <a:solidFill>
                  <a:schemeClr val="dk1"/>
                </a:solidFill>
              </a:rPr>
            </a:br>
            <a:r>
              <a:rPr lang="en-CA">
                <a:solidFill>
                  <a:schemeClr val="dk1"/>
                </a:solidFill>
              </a:rPr>
              <a:t> “If they delete, the server runs a </a:t>
            </a:r>
            <a:r>
              <a:rPr lang="en-CA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DELETE</a:t>
            </a:r>
            <a:r>
              <a:rPr lang="en-CA">
                <a:solidFill>
                  <a:schemeClr val="dk1"/>
                </a:solidFill>
              </a:rPr>
              <a:t> query using both the task id and the user id to make sure they can only delete their own tasks.”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</a:rPr>
              <a:t>Complete Task (point to Complete Task box):</a:t>
            </a:r>
            <a:br>
              <a:rPr b="1" lang="en-CA">
                <a:solidFill>
                  <a:schemeClr val="dk1"/>
                </a:solidFill>
              </a:rPr>
            </a:br>
            <a:r>
              <a:rPr lang="en-CA">
                <a:solidFill>
                  <a:schemeClr val="dk1"/>
                </a:solidFill>
              </a:rPr>
              <a:t> “If they mark a task complete, the app updates the </a:t>
            </a:r>
            <a:r>
              <a:rPr lang="en-CA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completed</a:t>
            </a:r>
            <a:r>
              <a:rPr lang="en-CA">
                <a:solidFill>
                  <a:schemeClr val="dk1"/>
                </a:solidFill>
              </a:rPr>
              <a:t> column for that task row (again checking user ownership).”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</a:rPr>
              <a:t>Update database (point to Update Database box):</a:t>
            </a:r>
            <a:br>
              <a:rPr b="1" lang="en-CA">
                <a:solidFill>
                  <a:schemeClr val="dk1"/>
                </a:solidFill>
              </a:rPr>
            </a:br>
            <a:r>
              <a:rPr lang="en-CA">
                <a:solidFill>
                  <a:schemeClr val="dk1"/>
                </a:solidFill>
              </a:rPr>
              <a:t> “All of those actions update the database using prepared statements to protect against SQL injection.”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</a:rPr>
              <a:t>Reload / return to dashboard (follow arrow back to dashboard):</a:t>
            </a:r>
            <a:br>
              <a:rPr b="1" lang="en-CA">
                <a:solidFill>
                  <a:schemeClr val="dk1"/>
                </a:solidFill>
              </a:rPr>
            </a:br>
            <a:r>
              <a:rPr lang="en-CA">
                <a:solidFill>
                  <a:schemeClr val="dk1"/>
                </a:solidFill>
              </a:rPr>
              <a:t> “After the update, the app reloads the tasks and returns the user to the dashboard so they see the changes immediately.”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</a:rPr>
              <a:t>Logout / end session (if shown on your chart, point to logout):</a:t>
            </a:r>
            <a:br>
              <a:rPr b="1" lang="en-CA">
                <a:solidFill>
                  <a:schemeClr val="dk1"/>
                </a:solidFill>
              </a:rPr>
            </a:br>
            <a:r>
              <a:rPr lang="en-CA">
                <a:solidFill>
                  <a:schemeClr val="dk1"/>
                </a:solidFill>
              </a:rPr>
              <a:t> “When the user logs out, the session is cleared and they’re redirected back to the login page.”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98d139c1c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98d139c1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98d139c1c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98d139c1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98d139c1c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98d139c1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98d139c1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98d139c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98d139c1c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98d139c1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98d139c1c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98d139c1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>
                <a:solidFill>
                  <a:schemeClr val="dk1"/>
                </a:solidFill>
              </a:rPr>
              <a:t>Several parts of the application work well.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>
                <a:solidFill>
                  <a:schemeClr val="dk1"/>
                </a:solidFill>
              </a:rPr>
              <a:t>User authentication is functional, allowing users to register, log in, and log out securely.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>
                <a:solidFill>
                  <a:schemeClr val="dk1"/>
                </a:solidFill>
              </a:rPr>
              <a:t>Tasks are properly linked to individual users, so users only see their own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>
                <a:solidFill>
                  <a:schemeClr val="dk1"/>
                </a:solidFill>
              </a:rPr>
              <a:t>The app supports full CRUD operations, meaning tasks can be added, edited, deleted, and marked as completed.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>
                <a:solidFill>
                  <a:schemeClr val="dk1"/>
                </a:solidFill>
              </a:rPr>
              <a:t>Using a centralized database file reduces repeated code and improves organization.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>
                <a:solidFill>
                  <a:schemeClr val="dk1"/>
                </a:solidFill>
              </a:rPr>
              <a:t>Overall, the application is stable, easy to use, and follows good backend practices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7232a53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/>
              <a:t>In the future, there are several improvements we could make to enhance the application.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/>
              <a:t>We could add task priorities, categories, or due dates to improve organization.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/>
              <a:t>The user interface could also be improved with better styling and animations.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/>
              <a:t>Additional features like password recovery, email verification, and task searching would make the app more complete.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Finally, performance and security could be further improved for larger-scale usage</a:t>
            </a:r>
            <a:endParaRPr/>
          </a:p>
        </p:txBody>
      </p:sp>
      <p:sp>
        <p:nvSpPr>
          <p:cNvPr id="166" name="Google Shape;166;g3aa7232a53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sC9JwCDXuFN2DfTs-8yZqzLfP7Oe84ac/view" TargetMode="External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283108" y="412244"/>
            <a:ext cx="10515600" cy="673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CA"/>
              <a:t>Project Folder Structure.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283108" y="1009615"/>
            <a:ext cx="8017500" cy="53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r>
              <a:rPr b="1" i="1" lang="en-CA" sz="2400"/>
              <a:t>Index.php:</a:t>
            </a:r>
            <a:r>
              <a:rPr b="1" lang="en-CA" sz="2400"/>
              <a:t> </a:t>
            </a:r>
            <a:r>
              <a:rPr lang="en-CA" sz="2400"/>
              <a:t>Login page</a:t>
            </a:r>
            <a:br>
              <a:rPr lang="en-CA" sz="2400"/>
            </a:br>
            <a:r>
              <a:rPr b="1" i="1" lang="en-CA" sz="2400"/>
              <a:t>register.php</a:t>
            </a:r>
            <a:r>
              <a:rPr i="1" lang="en-CA" sz="2400"/>
              <a:t>: </a:t>
            </a:r>
            <a:r>
              <a:rPr lang="en-CA" sz="2400"/>
              <a:t>New user signup </a:t>
            </a:r>
            <a:r>
              <a:rPr i="1" lang="en-CA" sz="2400"/>
              <a:t>dashboard.php</a:t>
            </a:r>
            <a:r>
              <a:rPr lang="en-CA" sz="2400"/>
              <a:t> – Displays the user’s tasks after login</a:t>
            </a:r>
            <a:br>
              <a:rPr lang="en-CA" sz="2400"/>
            </a:br>
            <a:r>
              <a:rPr b="1" i="1" lang="en-CA" sz="2400"/>
              <a:t>CRUD operations for tasks:</a:t>
            </a:r>
            <a:br>
              <a:rPr lang="en-CA" sz="2400"/>
            </a:br>
            <a:r>
              <a:rPr i="1" lang="en-CA" sz="2400"/>
              <a:t>add_task.php</a:t>
            </a:r>
            <a:r>
              <a:rPr lang="en-CA" sz="2400"/>
              <a:t>, </a:t>
            </a:r>
            <a:r>
              <a:rPr i="1" lang="en-CA" sz="2400"/>
              <a:t>edit_task.php</a:t>
            </a:r>
            <a:r>
              <a:rPr lang="en-CA" sz="2400"/>
              <a:t>, </a:t>
            </a:r>
            <a:r>
              <a:rPr i="1" lang="en-CA" sz="2400"/>
              <a:t>delete_task.php</a:t>
            </a:r>
            <a:r>
              <a:rPr lang="en-CA" sz="2400"/>
              <a:t>, complete_task.php</a:t>
            </a:r>
            <a:br>
              <a:rPr lang="en-CA" sz="2400"/>
            </a:br>
            <a:r>
              <a:rPr b="1" i="1" lang="en-CA" sz="2400"/>
              <a:t> db.php : </a:t>
            </a:r>
            <a:r>
              <a:rPr lang="en-CA" sz="2400"/>
              <a:t>Central database + session connection (PDO)</a:t>
            </a:r>
            <a:br>
              <a:rPr lang="en-CA" sz="2400"/>
            </a:br>
            <a:r>
              <a:rPr b="1" i="1" lang="en-CA" sz="2400"/>
              <a:t>logout.php : </a:t>
            </a:r>
            <a:r>
              <a:rPr lang="en-CA" sz="2400"/>
              <a:t>Ends the user session</a:t>
            </a:r>
            <a:br>
              <a:rPr lang="en-CA" sz="2400"/>
            </a:br>
            <a:r>
              <a:rPr b="1" i="1" lang="en-CA" sz="2400"/>
              <a:t>assets/ folder :</a:t>
            </a:r>
            <a:r>
              <a:rPr lang="en-CA" sz="2400"/>
              <a:t> Contains CSS, JS, and images used in the app</a:t>
            </a:r>
            <a:endParaRPr sz="2400"/>
          </a:p>
        </p:txBody>
      </p:sp>
      <p:pic>
        <p:nvPicPr>
          <p:cNvPr descr="A screenshot of a computer&#10;&#10;AI-generated content may be incorrect.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1431" y="556253"/>
            <a:ext cx="3387461" cy="5745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7" title="Untitled video-11/25/2025, 10:58 PM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223080" y="250825"/>
            <a:ext cx="5632971" cy="1439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CA"/>
              <a:t>Database connection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223080" y="1391157"/>
            <a:ext cx="5867400" cy="521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br>
              <a:rPr lang="en-CA" sz="1600"/>
            </a:br>
            <a:r>
              <a:rPr lang="en-CA" sz="1400"/>
              <a:t>The backend handles login validation, saving tasks, updating tasks, and retrieving all user data.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br>
              <a:rPr lang="en-CA" sz="1400"/>
            </a:br>
            <a:r>
              <a:rPr lang="en-CA" sz="1400"/>
              <a:t>To keep the code organized , </a:t>
            </a:r>
            <a:r>
              <a:rPr b="1" lang="en-CA" sz="1400"/>
              <a:t>db.php </a:t>
            </a:r>
            <a:r>
              <a:rPr lang="en-CA" sz="1400"/>
              <a:t>was created.</a:t>
            </a:r>
            <a:br>
              <a:rPr lang="en-CA" sz="1400"/>
            </a:br>
            <a:r>
              <a:rPr lang="en-CA" sz="1400"/>
              <a:t>The db.php is a file made that starts a session and creates a secure PDO connection all pages include this file to access the same database.</a:t>
            </a:r>
            <a:r>
              <a:rPr lang="en-CA"/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i="1" lang="en-CA" sz="1400"/>
              <a:t>Key Features of the Code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CA" sz="1400"/>
              <a:t>Session_start()</a:t>
            </a:r>
            <a:r>
              <a:rPr lang="en-CA" sz="1400"/>
              <a:t> keeps the user logged in across all pages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CA" sz="1400"/>
              <a:t>Database settings (host, name, username, password) define how PHP connects to MySQL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CA" sz="1400"/>
              <a:t>PDO</a:t>
            </a:r>
            <a:r>
              <a:rPr lang="en-CA" sz="1400"/>
              <a:t> is used to create a safe and modern connection to the database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CA" sz="1400"/>
              <a:t>ERRMODE_EXCEPTION</a:t>
            </a:r>
            <a:r>
              <a:rPr lang="en-CA" sz="1400"/>
              <a:t> makes debugging easier by showing helpful error messages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CA" sz="1400"/>
              <a:t>FETCH_ASSOC </a:t>
            </a:r>
            <a:r>
              <a:rPr lang="en-CA" sz="1400"/>
              <a:t>returns results as clean associative arrays (no numeric duplicates)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CA" sz="1400"/>
              <a:t>Centralized connection file — all pages use </a:t>
            </a:r>
            <a:r>
              <a:rPr b="1" lang="en-CA" sz="1400"/>
              <a:t>db.php</a:t>
            </a:r>
            <a:r>
              <a:rPr lang="en-CA" sz="1400"/>
              <a:t> instead of repeating connection code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pic>
        <p:nvPicPr>
          <p:cNvPr id="129" name="Google Shape;129;p19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5045" y="458347"/>
            <a:ext cx="5867400" cy="552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CA"/>
              <a:t>What works well?</a:t>
            </a:r>
            <a:endParaRPr/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CA" sz="2500"/>
              <a:t>User authentication (register, login, logout) works smoothly</a:t>
            </a:r>
            <a:endParaRPr sz="25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600"/>
              </a:spcBef>
              <a:spcAft>
                <a:spcPts val="0"/>
              </a:spcAft>
              <a:buSzPts val="2500"/>
              <a:buChar char="●"/>
            </a:pPr>
            <a:r>
              <a:rPr lang="en-CA" sz="2500"/>
              <a:t>Tasks are linked to individual users using sessions</a:t>
            </a:r>
            <a:endParaRPr sz="25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600"/>
              </a:spcBef>
              <a:spcAft>
                <a:spcPts val="0"/>
              </a:spcAft>
              <a:buSzPts val="2500"/>
              <a:buChar char="●"/>
            </a:pPr>
            <a:r>
              <a:rPr lang="en-CA" sz="2500"/>
              <a:t>Full CRUD functionality for tasks (add, edit, delete, complete)</a:t>
            </a:r>
            <a:endParaRPr sz="25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600"/>
              </a:spcBef>
              <a:spcAft>
                <a:spcPts val="0"/>
              </a:spcAft>
              <a:buSzPts val="2500"/>
              <a:buChar char="●"/>
            </a:pPr>
            <a:r>
              <a:rPr lang="en-CA" sz="2500"/>
              <a:t>Centralized database connection using db.php keeps code organized</a:t>
            </a:r>
            <a:endParaRPr sz="25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600"/>
              </a:spcBef>
              <a:spcAft>
                <a:spcPts val="0"/>
              </a:spcAft>
              <a:buSzPts val="2500"/>
              <a:buChar char="●"/>
            </a:pPr>
            <a:r>
              <a:rPr lang="en-CA" sz="2500"/>
              <a:t>Use</a:t>
            </a:r>
            <a:r>
              <a:rPr lang="en-CA" sz="2500"/>
              <a:t> of PDO improves security and prevents SQL injection</a:t>
            </a:r>
            <a:endParaRPr sz="25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600"/>
              </a:spcBef>
              <a:spcAft>
                <a:spcPts val="0"/>
              </a:spcAft>
              <a:buSzPts val="2500"/>
              <a:buChar char="●"/>
            </a:pPr>
            <a:r>
              <a:rPr lang="en-CA" sz="2500"/>
              <a:t>Simple and clear user interface that is easy to navigate</a:t>
            </a:r>
            <a:endParaRPr sz="25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CA"/>
              <a:t>What can be improved?</a:t>
            </a:r>
            <a:endParaRPr/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CA" sz="3300"/>
              <a:t>Add task categories or priority levels</a:t>
            </a:r>
            <a:endParaRPr sz="3300"/>
          </a:p>
          <a:p>
            <a:pPr indent="0" lvl="0" marL="1778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3300"/>
          </a:p>
          <a:p>
            <a:pPr indent="-374650" lvl="0" marL="457200" rtl="0" algn="l">
              <a:spcBef>
                <a:spcPts val="1600"/>
              </a:spcBef>
              <a:spcAft>
                <a:spcPts val="0"/>
              </a:spcAft>
              <a:buSzPts val="2300"/>
              <a:buChar char="●"/>
            </a:pPr>
            <a:r>
              <a:rPr lang="en-CA" sz="3300"/>
              <a:t>Improve UI with better styling and animations</a:t>
            </a:r>
            <a:endParaRPr sz="3300"/>
          </a:p>
          <a:p>
            <a:pPr indent="0" lvl="0" marL="1778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3300"/>
          </a:p>
          <a:p>
            <a:pPr indent="-374650" lvl="0" marL="457200" rtl="0" algn="l">
              <a:spcBef>
                <a:spcPts val="1600"/>
              </a:spcBef>
              <a:spcAft>
                <a:spcPts val="0"/>
              </a:spcAft>
              <a:buSzPts val="2300"/>
              <a:buChar char="●"/>
            </a:pPr>
            <a:r>
              <a:rPr lang="en-CA" sz="3300"/>
              <a:t>Add password reset and email verification features</a:t>
            </a:r>
            <a:endParaRPr sz="3300"/>
          </a:p>
          <a:p>
            <a:pPr indent="0" lvl="0" marL="1778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3300"/>
          </a:p>
          <a:p>
            <a:pPr indent="-374650" lvl="0" marL="457200" rtl="0" algn="l">
              <a:spcBef>
                <a:spcPts val="1600"/>
              </a:spcBef>
              <a:spcAft>
                <a:spcPts val="0"/>
              </a:spcAft>
              <a:buSzPts val="2300"/>
              <a:buChar char="●"/>
            </a:pPr>
            <a:r>
              <a:rPr lang="en-CA" sz="3300"/>
              <a:t>Implement search and task filtering options</a:t>
            </a:r>
            <a:endParaRPr sz="3300"/>
          </a:p>
          <a:p>
            <a:pPr indent="0" lvl="0" marL="177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3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